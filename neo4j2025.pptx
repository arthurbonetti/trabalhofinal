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5" r:id="rId18"/>
    <p:sldId id="276" r:id="rId19"/>
    <p:sldId id="277" r:id="rId20"/>
    <p:sldId id="278" r:id="rId21"/>
    <p:sldId id="293" r:id="rId22"/>
    <p:sldId id="279" r:id="rId23"/>
    <p:sldId id="280" r:id="rId24"/>
    <p:sldId id="281" r:id="rId25"/>
    <p:sldId id="283" r:id="rId26"/>
    <p:sldId id="284" r:id="rId27"/>
    <p:sldId id="285" r:id="rId28"/>
    <p:sldId id="286" r:id="rId29"/>
    <p:sldId id="291" r:id="rId30"/>
    <p:sldId id="292" r:id="rId31"/>
    <p:sldId id="282" r:id="rId32"/>
    <p:sldId id="287" r:id="rId33"/>
    <p:sldId id="289" r:id="rId34"/>
    <p:sldId id="290" r:id="rId35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397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6B7DA28-92F7-4057-A964-6F07233D91DB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2B8A230-8472-4BA6-9784-62842428BD6F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07DFAB6-415B-41B1-9F5A-D35DB95090AE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60156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3119" lnSpcReduction="10000"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470240" y="1825560"/>
            <a:ext cx="60156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3119" lnSpcReduction="10000"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0BEA2A5-79B1-4B2C-9E3E-E798B83B3DB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9FA2C32B-5DEB-4DAF-ABD9-50E04E58F455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65FAF35-3F1A-4B08-A7B2-80CFB3557B71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68476B55-45D1-49D0-90C6-D0E97D85293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684CD8-FC33-496A-9A9D-4703C5C93D60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252756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14DB62-93D8-442F-AB39-8BF354A18AB0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7AB794-6A68-48E0-A24B-5CEF52C67B03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833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00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833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310B9F-E949-49CB-9FBE-E0C7343F0698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4C62EE-30DE-45DD-9A28-EC33C5CCD202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99FDFF-9A88-4DB7-BF8D-0DBB072100DC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4EFEAC-11BA-4950-8491-8EC247218C5A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volin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410560" y="2484000"/>
            <a:ext cx="9142920" cy="179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strike="noStrike" spc="-1">
                <a:solidFill>
                  <a:schemeClr val="dk1"/>
                </a:solidFill>
                <a:latin typeface="Cavolini"/>
              </a:rPr>
              <a:t>Bancos de Dados orientados a Grafos</a:t>
            </a:r>
            <a:endParaRPr lang="pt-BR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3603960" y="4647960"/>
            <a:ext cx="7099560" cy="44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200" b="0" strike="noStrike" spc="-1">
                <a:solidFill>
                  <a:schemeClr val="dk1"/>
                </a:solidFill>
                <a:latin typeface="Cavolini"/>
              </a:rPr>
              <a:t>Profa. Me Monica Tissiani De Toni Pereira</a:t>
            </a:r>
            <a:endParaRPr lang="pt-BR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m 3"/>
          <p:cNvPicPr/>
          <p:nvPr/>
        </p:nvPicPr>
        <p:blipFill>
          <a:blip r:embed="rId2"/>
          <a:stretch/>
        </p:blipFill>
        <p:spPr>
          <a:xfrm>
            <a:off x="366120" y="221760"/>
            <a:ext cx="2742120" cy="2261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90AC3C5-526E-4442-B158-275EB471B79C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Grafos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2500" lnSpcReduction="20000"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Para Koffman (2008), um grafo é uma estrutura de dados que consiste em um conjunto de vértices (ou nós) e um conjunto de arestas (relações) entre pares de vértices. As arestas representam caminhos ou conexões entre os vértices. Tanto o conjunto de vértices quanto o conjunto de arestas devem ser finitos, e um deles pode ser vazio. Se o conjunto de vértices for vazio, naturalmente o conjunto de arestas deve ser igualmente vazio.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2"/>
          <a:stretch/>
        </p:blipFill>
        <p:spPr>
          <a:xfrm>
            <a:off x="6872400" y="2115360"/>
            <a:ext cx="4479840" cy="3027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49EE783-C642-4FFD-97E1-D86B6CBB81C3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Grafos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5000" lnSpcReduction="20000"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O conjunto de vértices V, e o conjunto de arestas, A, definem um grafo que possui cinco vértices, com rótulos de A a E e quatro arestas.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V = {A, B, C, D, E} 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A = {{A, B}, {A, D}, {C, E}, {D, E}} 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 Cada aresta é um conjunto de dois vértices. Existe uma aresta entre A e B (a aresta {A, B}), entre A e D, entre C e E e entre D e E. Se existe uma aresta entre qualquer par de vértices x, y, isso significa que existe uma passagem do vértice x ao vértice y e vice-versa.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Visualmente, representamos os vértices como pontos ou círculos rotulados e as arestas como segmentos de retas ligando os vértices.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Imagem 4"/>
          <p:cNvPicPr/>
          <p:nvPr/>
        </p:nvPicPr>
        <p:blipFill>
          <a:blip r:embed="rId2"/>
          <a:stretch/>
        </p:blipFill>
        <p:spPr>
          <a:xfrm>
            <a:off x="8096400" y="4500000"/>
            <a:ext cx="2523600" cy="1991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9CC3382-455B-49D3-8ACC-1CD10D948DF2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Grafos não orientados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Um grafo não orientado pode ser percorrido em qualquer direção em cada aresta. Por exemplo, o grafo de exemplo, não tem a direção indicada para o percurso que deve ser feito entre os vértices. Assim, a aresta {A,B} também pode ser representada como {B,A}.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Espaço Reservado para Conteúdo 5"/>
          <p:cNvPicPr/>
          <p:nvPr/>
        </p:nvPicPr>
        <p:blipFill>
          <a:blip r:embed="rId2"/>
          <a:stretch/>
        </p:blipFill>
        <p:spPr>
          <a:xfrm>
            <a:off x="6539040" y="1690560"/>
            <a:ext cx="4206960" cy="29952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DFD505F-6C0E-49E1-8FE9-93362AF5E0B9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Grafos orientados</a:t>
            </a:r>
            <a:br>
              <a:rPr sz="4400"/>
            </a:b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ou dígrafos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71046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444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Em grafos orientados, a indicação do percurso está indicada por um arco, isto é, uma aresta que termina em uma seta de direção.  O conjunto A determina os arcos possíveis para o dígrafo A.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A = {{A, B}, {B, A}, {B, E}, {D, A}, {E, A}, {E, C}, {E, D}} 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O conjunto B determina os arcos possíveis para o dígrafo B.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B = {{D1,D2},{D1,D3},{D2,D3},{D3,D2}}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m 8"/>
          <p:cNvPicPr/>
          <p:nvPr/>
        </p:nvPicPr>
        <p:blipFill>
          <a:blip r:embed="rId2"/>
          <a:stretch/>
        </p:blipFill>
        <p:spPr>
          <a:xfrm>
            <a:off x="8262000" y="3290760"/>
            <a:ext cx="2316960" cy="2502360"/>
          </a:xfrm>
          <a:prstGeom prst="rect">
            <a:avLst/>
          </a:prstGeom>
          <a:ln w="0">
            <a:noFill/>
          </a:ln>
        </p:spPr>
      </p:pic>
      <p:pic>
        <p:nvPicPr>
          <p:cNvPr id="52" name="Imagem 10"/>
          <p:cNvPicPr/>
          <p:nvPr/>
        </p:nvPicPr>
        <p:blipFill>
          <a:blip r:embed="rId3"/>
          <a:stretch/>
        </p:blipFill>
        <p:spPr>
          <a:xfrm>
            <a:off x="7943760" y="470520"/>
            <a:ext cx="3620520" cy="2147760"/>
          </a:xfrm>
          <a:prstGeom prst="rect">
            <a:avLst/>
          </a:prstGeom>
          <a:ln w="0">
            <a:noFill/>
          </a:ln>
        </p:spPr>
      </p:pic>
      <p:sp>
        <p:nvSpPr>
          <p:cNvPr id="53" name="CaixaDeTexto 9"/>
          <p:cNvSpPr/>
          <p:nvPr/>
        </p:nvSpPr>
        <p:spPr>
          <a:xfrm>
            <a:off x="8759160" y="2770560"/>
            <a:ext cx="133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Cavolini"/>
              </a:rPr>
              <a:t>Dígrafo A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aixaDeTexto 12"/>
          <p:cNvSpPr/>
          <p:nvPr/>
        </p:nvSpPr>
        <p:spPr>
          <a:xfrm>
            <a:off x="8779680" y="5826600"/>
            <a:ext cx="1319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Cavolini"/>
              </a:rPr>
              <a:t>Dígrafo B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BE4381B-807E-49F2-A0B5-9A54D0091C28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Grafos ponderados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23336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As arestas em um grafo podem ter valores associados a elas, conhecidos como seus pesos. Um grafo com arestas com pesos é conhecido como um grafo ponderado. Em uma ilustração de um grafo ponderado, os pesos são mostrados próximo às arestas.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m 7"/>
          <p:cNvPicPr/>
          <p:nvPr/>
        </p:nvPicPr>
        <p:blipFill>
          <a:blip r:embed="rId2"/>
          <a:stretch/>
        </p:blipFill>
        <p:spPr>
          <a:xfrm>
            <a:off x="5399640" y="4001400"/>
            <a:ext cx="5737320" cy="24451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3148C0A-DAEA-4D5D-999F-027AAEF6FB60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489680"/>
            <a:ext cx="1023336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Os elementos estruturais de um banco de dados orientados a grafos são: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volini"/>
              </a:rPr>
              <a:t>Nós (vértices do grafo) – possuem propriedades;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volini"/>
              </a:rPr>
              <a:t>Relacionamentos (arestas do grafo) – podem ter propriedades;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volini"/>
              </a:rPr>
              <a:t>As propriedades são definidas por pares de chave-valor;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volini"/>
              </a:rPr>
              <a:t>Vários nós podem ser do mesmo tipo, porém, não precisam possuir as mesma propriedades. Da mesma forma, os relacionamentos.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m 5"/>
          <p:cNvPicPr/>
          <p:nvPr/>
        </p:nvPicPr>
        <p:blipFill>
          <a:blip r:embed="rId2"/>
          <a:stretch/>
        </p:blipFill>
        <p:spPr>
          <a:xfrm>
            <a:off x="4163400" y="4230000"/>
            <a:ext cx="7189200" cy="2490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7BA3DF2-33DC-400B-8916-AC7BA0767AA0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23336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Nós: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volini"/>
              </a:rPr>
              <a:t>Cada nó no grafo armazena as propriedades de um objeto do mundo real.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volini"/>
              </a:rPr>
              <a:t>No Neo4j, um grafo pode possuir apenas um nó com alguns valores nomeados, chamados Propriedades. 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m 3"/>
          <p:cNvPicPr/>
          <p:nvPr/>
        </p:nvPicPr>
        <p:blipFill>
          <a:blip r:embed="rId2"/>
          <a:stretch/>
        </p:blipFill>
        <p:spPr>
          <a:xfrm>
            <a:off x="1416960" y="3429000"/>
            <a:ext cx="2970720" cy="2675520"/>
          </a:xfrm>
          <a:prstGeom prst="rect">
            <a:avLst/>
          </a:prstGeom>
          <a:ln w="0">
            <a:noFill/>
          </a:ln>
        </p:spPr>
      </p:pic>
      <p:pic>
        <p:nvPicPr>
          <p:cNvPr id="64" name="Imagem 4"/>
          <p:cNvPicPr/>
          <p:nvPr/>
        </p:nvPicPr>
        <p:blipFill>
          <a:blip r:embed="rId3"/>
          <a:stretch/>
        </p:blipFill>
        <p:spPr>
          <a:xfrm>
            <a:off x="4967280" y="4060800"/>
            <a:ext cx="6852960" cy="24310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DFA776A-4EFC-49F9-A93B-510994C8FEF4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486080"/>
            <a:ext cx="1023336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Relacionamentos: são conexões entre os nós. 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Imagem 5"/>
          <p:cNvPicPr/>
          <p:nvPr/>
        </p:nvPicPr>
        <p:blipFill>
          <a:blip r:embed="rId2"/>
          <a:stretch/>
        </p:blipFill>
        <p:spPr>
          <a:xfrm>
            <a:off x="1119240" y="2333520"/>
            <a:ext cx="3665880" cy="3811680"/>
          </a:xfrm>
          <a:prstGeom prst="rect">
            <a:avLst/>
          </a:prstGeom>
          <a:ln w="0">
            <a:noFill/>
          </a:ln>
        </p:spPr>
      </p:pic>
      <p:pic>
        <p:nvPicPr>
          <p:cNvPr id="68" name="Imagem 6"/>
          <p:cNvPicPr/>
          <p:nvPr/>
        </p:nvPicPr>
        <p:blipFill>
          <a:blip r:embed="rId3"/>
          <a:stretch/>
        </p:blipFill>
        <p:spPr>
          <a:xfrm>
            <a:off x="5067360" y="3920400"/>
            <a:ext cx="6647400" cy="2065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D46A97A-EF4E-4A50-92D7-8717BA377419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486080"/>
            <a:ext cx="1023336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Relacionamentos também podem possuir propriedades.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m 7"/>
          <p:cNvPicPr/>
          <p:nvPr/>
        </p:nvPicPr>
        <p:blipFill>
          <a:blip r:embed="rId2"/>
          <a:stretch/>
        </p:blipFill>
        <p:spPr>
          <a:xfrm>
            <a:off x="838080" y="1955160"/>
            <a:ext cx="3889800" cy="4774680"/>
          </a:xfrm>
          <a:prstGeom prst="rect">
            <a:avLst/>
          </a:prstGeom>
          <a:ln w="0">
            <a:noFill/>
          </a:ln>
        </p:spPr>
      </p:pic>
      <p:pic>
        <p:nvPicPr>
          <p:cNvPr id="72" name="Imagem 9"/>
          <p:cNvPicPr/>
          <p:nvPr/>
        </p:nvPicPr>
        <p:blipFill>
          <a:blip r:embed="rId3"/>
          <a:stretch/>
        </p:blipFill>
        <p:spPr>
          <a:xfrm>
            <a:off x="5548320" y="2196360"/>
            <a:ext cx="5942880" cy="38750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9E7BD3D-8EE1-4426-8CEF-56E6294395B3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sz="4400" dirty="0"/>
            </a:b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Adicionando nodos: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create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(p1:Pessoa{id:1,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nome:"Maria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datanasc:"1970-07-07", peso:54.0, altura:1.63});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create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(p2:Pessoa{id:2,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nome:"José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datanasc:"1978-12-04", peso:74.0, altura:1.87}),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(p3:Pessoa{id:3,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nome:"Paulo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datanasc:"1990-10-17", peso:87.0, altura:1.90}),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(p4:Pessoa{id:4,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nome:"Rita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datanasc:"2004-05-04", peso:64.0, altura:1.44});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m 4"/>
          <p:cNvPicPr/>
          <p:nvPr/>
        </p:nvPicPr>
        <p:blipFill>
          <a:blip r:embed="rId2"/>
          <a:stretch/>
        </p:blipFill>
        <p:spPr>
          <a:xfrm>
            <a:off x="838080" y="1690560"/>
            <a:ext cx="3664080" cy="3594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DA8155F-6E85-4575-AF76-06CAAB19E0A6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create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(p1:Pessoa{id:5,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nome:"Marta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datanasc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:[10,10,2000], peso:54.80, altura:1.58});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create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(p2:Pessoa{id:6,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nome:"Pedro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datanasc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:[5,5,1980],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formacao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:"Advogado",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cidade:"Curitiba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",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uf:"PR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"});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m 4"/>
          <p:cNvPicPr/>
          <p:nvPr/>
        </p:nvPicPr>
        <p:blipFill>
          <a:blip r:embed="rId2"/>
          <a:stretch/>
        </p:blipFill>
        <p:spPr>
          <a:xfrm>
            <a:off x="838080" y="1690560"/>
            <a:ext cx="3664080" cy="359460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3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Adicionando mais nodos: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B356CCB-5DBA-42AF-8743-E66C41ED015B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658368" y="1836720"/>
            <a:ext cx="11170872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(n)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n:Pessoa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(n)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n:Cidade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2800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spc="-1" dirty="0">
                <a:solidFill>
                  <a:schemeClr val="dk1"/>
                </a:solidFill>
                <a:latin typeface="Cavolini"/>
              </a:rPr>
              <a:t>) </a:t>
            </a:r>
            <a:r>
              <a:rPr lang="pt-BR" sz="2800" spc="-1" dirty="0" err="1">
                <a:solidFill>
                  <a:schemeClr val="dk1"/>
                </a:solidFill>
                <a:latin typeface="Cavolini"/>
              </a:rPr>
              <a:t>where</a:t>
            </a:r>
            <a:r>
              <a:rPr lang="pt-BR" sz="2800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2800" spc="-1" dirty="0" err="1">
                <a:solidFill>
                  <a:schemeClr val="dk1"/>
                </a:solidFill>
                <a:latin typeface="Cavolini"/>
              </a:rPr>
              <a:t>p.nome</a:t>
            </a:r>
            <a:r>
              <a:rPr lang="pt-BR" sz="2800" spc="-1" dirty="0">
                <a:solidFill>
                  <a:schemeClr val="dk1"/>
                </a:solidFill>
                <a:latin typeface="Cavolini"/>
              </a:rPr>
              <a:t> = 'Maria' </a:t>
            </a:r>
            <a:r>
              <a:rPr lang="pt-BR" sz="2800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2800" spc="-1" dirty="0" err="1">
                <a:solidFill>
                  <a:schemeClr val="dk1"/>
                </a:solidFill>
                <a:latin typeface="Cavolini"/>
              </a:rPr>
              <a:t>p.peso</a:t>
            </a:r>
            <a:endParaRPr lang="pt-BR" sz="2800" spc="-1" dirty="0">
              <a:solidFill>
                <a:schemeClr val="dk1"/>
              </a:solidFill>
              <a:latin typeface="Cavolin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(n)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count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(n)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) return count(p)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match (n) return distinct labels(n)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Consultando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5C0BD8D-CE24-4844-96CB-D8BF9435C6C5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{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nome:'Marta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'})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p.datanasc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[0]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{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nome:'Marta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'})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(2025 - 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p.datanasc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[2])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{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nome:'Marta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'})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Keys(p)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m 4"/>
          <p:cNvPicPr/>
          <p:nvPr/>
        </p:nvPicPr>
        <p:blipFill>
          <a:blip r:embed="rId2"/>
          <a:stretch/>
        </p:blipFill>
        <p:spPr>
          <a:xfrm>
            <a:off x="838080" y="1690560"/>
            <a:ext cx="3664080" cy="3594600"/>
          </a:xfrm>
          <a:prstGeom prst="rect">
            <a:avLst/>
          </a:prstGeom>
          <a:ln w="0">
            <a:noFill/>
          </a:ln>
        </p:spPr>
      </p:pic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sz="4400" dirty="0"/>
            </a:b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Consultando: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267EE3D-C9A7-4628-BCE9-D2E651FA8B9B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E5AC-94CA-47AD-A2A2-A77C18B4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>
            <a:extLst>
              <a:ext uri="{FF2B5EF4-FFF2-40B4-BE49-F238E27FC236}">
                <a16:creationId xmlns:a16="http://schemas.microsoft.com/office/drawing/2014/main" id="{60844CDA-B746-23CB-39BA-F52E1BD6E52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r>
              <a:rPr lang="pt-BR" sz="2400" dirty="0"/>
              <a:t>match (</a:t>
            </a:r>
            <a:r>
              <a:rPr lang="pt-BR" sz="2400" dirty="0" err="1"/>
              <a:t>p:Pessoa</a:t>
            </a:r>
            <a:r>
              <a:rPr lang="pt-BR" sz="2400" dirty="0"/>
              <a:t>) </a:t>
            </a:r>
            <a:r>
              <a:rPr lang="pt-BR" sz="2400" dirty="0" err="1"/>
              <a:t>where</a:t>
            </a:r>
            <a:r>
              <a:rPr lang="pt-BR" sz="2400" dirty="0"/>
              <a:t> </a:t>
            </a:r>
            <a:r>
              <a:rPr lang="pt-BR" sz="2400" dirty="0" err="1"/>
              <a:t>p.nome</a:t>
            </a:r>
            <a:r>
              <a:rPr lang="pt-BR" sz="2400" dirty="0"/>
              <a:t> = 'Maria' set </a:t>
            </a:r>
            <a:r>
              <a:rPr lang="pt-BR" sz="2400" dirty="0" err="1"/>
              <a:t>p.peso</a:t>
            </a:r>
            <a:r>
              <a:rPr lang="pt-BR" sz="2400" dirty="0"/>
              <a:t> = 67;</a:t>
            </a:r>
          </a:p>
          <a:p>
            <a:endParaRPr lang="pt-BR" sz="2400" dirty="0"/>
          </a:p>
          <a:p>
            <a:r>
              <a:rPr lang="pt-BR" sz="2400" dirty="0"/>
              <a:t>match (</a:t>
            </a:r>
            <a:r>
              <a:rPr lang="pt-BR" sz="2400" dirty="0" err="1"/>
              <a:t>p:Pessoa</a:t>
            </a:r>
            <a:r>
              <a:rPr lang="pt-BR" sz="2400" dirty="0"/>
              <a:t>) </a:t>
            </a:r>
            <a:r>
              <a:rPr lang="pt-BR" sz="2400" dirty="0" err="1"/>
              <a:t>where</a:t>
            </a:r>
            <a:r>
              <a:rPr lang="pt-BR" sz="2400" dirty="0"/>
              <a:t> </a:t>
            </a:r>
            <a:r>
              <a:rPr lang="pt-BR" sz="2400" dirty="0" err="1"/>
              <a:t>p.nome</a:t>
            </a:r>
            <a:r>
              <a:rPr lang="pt-BR" sz="2400" dirty="0"/>
              <a:t> = 'Maria' set </a:t>
            </a:r>
            <a:r>
              <a:rPr lang="pt-BR" sz="2400" dirty="0" err="1"/>
              <a:t>p.peso</a:t>
            </a:r>
            <a:r>
              <a:rPr lang="pt-BR" sz="2400" dirty="0"/>
              <a:t> = 69, </a:t>
            </a:r>
            <a:r>
              <a:rPr lang="pt-BR" sz="2400" dirty="0" err="1"/>
              <a:t>p.altura</a:t>
            </a:r>
            <a:r>
              <a:rPr lang="pt-BR" sz="2400" dirty="0"/>
              <a:t> = 1.72;</a:t>
            </a:r>
          </a:p>
          <a:p>
            <a:endParaRPr lang="pt-BR" sz="2400" dirty="0"/>
          </a:p>
          <a:p>
            <a:r>
              <a:rPr lang="en-US" sz="2400" dirty="0"/>
              <a:t>match (</a:t>
            </a:r>
            <a:r>
              <a:rPr lang="en-US" sz="2400" dirty="0" err="1"/>
              <a:t>p:Pessoa</a:t>
            </a:r>
            <a:r>
              <a:rPr lang="en-US" sz="2400" dirty="0"/>
              <a:t>{</a:t>
            </a:r>
            <a:r>
              <a:rPr lang="en-US" sz="2400" dirty="0" err="1"/>
              <a:t>nome</a:t>
            </a:r>
            <a:r>
              <a:rPr lang="en-US" sz="2400" dirty="0"/>
              <a:t>:'Maria'}) return p</a:t>
            </a:r>
          </a:p>
          <a:p>
            <a:endParaRPr lang="pt-BR" sz="2400" dirty="0"/>
          </a:p>
          <a:p>
            <a:endParaRPr lang="pt-BR" sz="2400" dirty="0"/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m 4">
            <a:extLst>
              <a:ext uri="{FF2B5EF4-FFF2-40B4-BE49-F238E27FC236}">
                <a16:creationId xmlns:a16="http://schemas.microsoft.com/office/drawing/2014/main" id="{BE757361-E3DF-E90F-D142-78182867FE9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38080" y="1690560"/>
            <a:ext cx="3664080" cy="3594600"/>
          </a:xfrm>
          <a:prstGeom prst="rect">
            <a:avLst/>
          </a:prstGeom>
          <a:ln w="0">
            <a:noFill/>
          </a:ln>
        </p:spPr>
      </p:pic>
      <p:sp>
        <p:nvSpPr>
          <p:cNvPr id="112" name="PlaceHolder 2">
            <a:extLst>
              <a:ext uri="{FF2B5EF4-FFF2-40B4-BE49-F238E27FC236}">
                <a16:creationId xmlns:a16="http://schemas.microsoft.com/office/drawing/2014/main" id="{06DAC0A7-FA9B-0C1F-E34B-21AC74D6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sz="4400" dirty="0"/>
            </a:b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Alterando nodos: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D7E7D24-ED65-01CF-6543-30264D2EAF3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267EE3D-C9A7-4628-BCE9-D2E651FA8B9B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205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Criando relacionamentos: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(p1:Pessoa), (p2:Pessoa)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WHERE p1.id = 1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and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p2.id = 3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CREATE (p1)-[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r:amigo_de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]-&gt;(p2)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(p5:Pessoa), (p6:Pessoa)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WHERE p5.id = 4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and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p6.id = 3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CREATE (p5)&lt;-[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r:trabalha_para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]-(p6)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Imagem 2"/>
          <p:cNvPicPr/>
          <p:nvPr/>
        </p:nvPicPr>
        <p:blipFill>
          <a:blip r:embed="rId2"/>
          <a:stretch/>
        </p:blipFill>
        <p:spPr>
          <a:xfrm>
            <a:off x="361800" y="2252520"/>
            <a:ext cx="3817080" cy="23515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7F2DE1C-6ACC-422B-AB6C-4513EF2EA687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),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c:Cidade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WHERE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p.nome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= 'Marta'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and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c.nome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= '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Nonoai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'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CREATE (p)-[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r:mora_em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]-&gt;(c);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(p5:Pessoa), (p6:Pessoa)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WHERE p5.id = 4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and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p6.id = 2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CREATE (p5)&lt;-[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r:trabalha_para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]-(p6);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m 2"/>
          <p:cNvPicPr/>
          <p:nvPr/>
        </p:nvPicPr>
        <p:blipFill>
          <a:blip r:embed="rId2"/>
          <a:stretch/>
        </p:blipFill>
        <p:spPr>
          <a:xfrm>
            <a:off x="361800" y="2252520"/>
            <a:ext cx="3817080" cy="235152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Criando relacionamentos: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CC85B32-7D7E-432A-894C-CBE8054F8817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Consultando relacionamentos: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610160" y="169056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{nome: "Marta"})-[: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mora_em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]-&gt;(f) RETURN p, f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)-[: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trabalha_para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]-&gt;(f) RETURN p, f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c:Cidade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{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nome:"Chapecó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"})-[: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rota_de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]-&gt;(r) RETURN c, r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m 2"/>
          <p:cNvPicPr/>
          <p:nvPr/>
        </p:nvPicPr>
        <p:blipFill>
          <a:blip r:embed="rId2"/>
          <a:stretch/>
        </p:blipFill>
        <p:spPr>
          <a:xfrm>
            <a:off x="361800" y="2252520"/>
            <a:ext cx="3817080" cy="23515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4C55C4C-A2D4-4931-8D6B-CE34372FCF38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Funções de agregação: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8611"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match (p:Pessoa) return max(p.peso)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match (p:Pessoa) return avg(p.peso), min(p.peso), max(p.peso)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match (p:Pessoa) return (p.peso/(p.altura*p.altura)) as imc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match (p:Pessoa) return min(p.peso/(p.altura*p.altura)) as imc_minimo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m 3"/>
          <p:cNvPicPr/>
          <p:nvPr/>
        </p:nvPicPr>
        <p:blipFill>
          <a:blip r:embed="rId2"/>
          <a:stretch/>
        </p:blipFill>
        <p:spPr>
          <a:xfrm>
            <a:off x="657360" y="1836720"/>
            <a:ext cx="4004280" cy="37198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CE5D90D-1A4C-4021-B7D7-57DA28F833E6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Operadores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) WHERE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p.peso</a:t>
            </a: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 &gt; 80 RETURN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p.peso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)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return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p.nome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,  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p.peso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/(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p.altura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*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p.altura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)) &lt; 28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p:Pessoa</a:t>
            </a: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)  where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p.peso</a:t>
            </a:r>
            <a:r>
              <a:rPr lang="en-US" sz="2800" b="0" strike="noStrike" spc="-1" dirty="0">
                <a:solidFill>
                  <a:schemeClr val="dk1"/>
                </a:solidFill>
                <a:latin typeface="Cavolini"/>
              </a:rPr>
              <a:t> &gt;= 20 return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volini"/>
              </a:rPr>
              <a:t>p.nome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m 3"/>
          <p:cNvPicPr/>
          <p:nvPr/>
        </p:nvPicPr>
        <p:blipFill>
          <a:blip r:embed="rId2"/>
          <a:stretch/>
        </p:blipFill>
        <p:spPr>
          <a:xfrm>
            <a:off x="657360" y="1836720"/>
            <a:ext cx="4004280" cy="37198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7A2AE12-9788-4C3B-827D-B51175C0C546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Excluindo nodos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014800" y="1836720"/>
            <a:ext cx="6814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volini"/>
              </a:rPr>
              <a:t>match (p:Pessoa{nome:'Monica'}) detach delete p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match (p:Pessoa) where p.peso &gt; 80 detach delete p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strike="noStrike" spc="-1">
                <a:solidFill>
                  <a:schemeClr val="dk1"/>
                </a:solidFill>
                <a:latin typeface="Cavolini"/>
              </a:rPr>
              <a:t>match (p:Pessoa) detach delete p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Imagem 4"/>
          <p:cNvPicPr/>
          <p:nvPr/>
        </p:nvPicPr>
        <p:blipFill>
          <a:blip r:embed="rId2"/>
          <a:stretch/>
        </p:blipFill>
        <p:spPr>
          <a:xfrm>
            <a:off x="506880" y="1690560"/>
            <a:ext cx="3664080" cy="3594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741C14A-E797-4938-8F68-CC68FDF0B1E1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sz="4400" dirty="0"/>
            </a:b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Excluindo relacionamentos: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1104" y="1847880"/>
            <a:ext cx="1152144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r>
              <a:rPr lang="pt-BR" sz="2800" dirty="0"/>
              <a:t>MATCH</a:t>
            </a:r>
          </a:p>
          <a:p>
            <a:r>
              <a:rPr lang="pt-BR" sz="2800" dirty="0"/>
              <a:t>(p{ nome: 'Maria' })-[</a:t>
            </a:r>
            <a:r>
              <a:rPr lang="pt-BR" sz="2800" dirty="0" err="1"/>
              <a:t>r:amigo_de</a:t>
            </a:r>
            <a:r>
              <a:rPr lang="pt-BR" sz="2800" dirty="0"/>
              <a:t>]-&gt;(q{</a:t>
            </a:r>
            <a:r>
              <a:rPr lang="pt-BR" sz="2800" dirty="0" err="1"/>
              <a:t>nome:'Paulo</a:t>
            </a:r>
            <a:r>
              <a:rPr lang="pt-BR" sz="2800" dirty="0"/>
              <a:t>'}) </a:t>
            </a:r>
          </a:p>
          <a:p>
            <a:r>
              <a:rPr lang="pt-BR" sz="2800" dirty="0"/>
              <a:t>DELETE r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3200" b="0" strike="noStrike" spc="-1" dirty="0">
                <a:solidFill>
                  <a:schemeClr val="dk1"/>
                </a:solidFill>
                <a:latin typeface="Cavolini"/>
              </a:rPr>
              <a:t>MATCH (c { nome: 'Xaxim' })-[</a:t>
            </a:r>
            <a:r>
              <a:rPr lang="pt-BR" sz="3200" b="0" strike="noStrike" spc="-1" dirty="0" err="1">
                <a:solidFill>
                  <a:schemeClr val="dk1"/>
                </a:solidFill>
                <a:latin typeface="Cavolini"/>
              </a:rPr>
              <a:t>r:rota</a:t>
            </a:r>
            <a:r>
              <a:rPr lang="pt-BR" sz="3200" b="0" strike="noStrike" spc="-1" dirty="0">
                <a:solidFill>
                  <a:schemeClr val="dk1"/>
                </a:solidFill>
                <a:latin typeface="Cavolini"/>
              </a:rPr>
              <a:t>]-&gt;()</a:t>
            </a:r>
            <a:endParaRPr lang="pt-BR" sz="3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3200" b="0" strike="noStrike" spc="-1" dirty="0">
                <a:solidFill>
                  <a:schemeClr val="dk1"/>
                </a:solidFill>
                <a:latin typeface="Cavolini"/>
              </a:rPr>
              <a:t>DELETE r</a:t>
            </a:r>
            <a:endParaRPr lang="pt-B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19C0E02-A6CC-4EB2-9873-4B9E512C8E3B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9681-14E7-F4EB-0F5E-6165BA3B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>
            <a:extLst>
              <a:ext uri="{FF2B5EF4-FFF2-40B4-BE49-F238E27FC236}">
                <a16:creationId xmlns:a16="http://schemas.microsoft.com/office/drawing/2014/main" id="{D430D139-0598-9CE6-2DEE-976D790C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86609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sz="4400" dirty="0"/>
            </a:b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Mais nodos: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>
            <a:extLst>
              <a:ext uri="{FF2B5EF4-FFF2-40B4-BE49-F238E27FC236}">
                <a16:creationId xmlns:a16="http://schemas.microsoft.com/office/drawing/2014/main" id="{8418386C-3BCB-A1E7-F3A9-840B0AF9821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97408" y="2231136"/>
            <a:ext cx="11472672" cy="395582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3200" spc="-1" dirty="0" err="1">
                <a:solidFill>
                  <a:schemeClr val="dk1"/>
                </a:solidFill>
              </a:rPr>
              <a:t>create</a:t>
            </a:r>
            <a:r>
              <a:rPr lang="pt-BR" sz="3200" spc="-1" dirty="0">
                <a:solidFill>
                  <a:schemeClr val="dk1"/>
                </a:solidFill>
              </a:rPr>
              <a:t> (</a:t>
            </a:r>
            <a:r>
              <a:rPr lang="pt-BR" sz="3200" spc="-1" dirty="0" err="1">
                <a:solidFill>
                  <a:schemeClr val="dk1"/>
                </a:solidFill>
              </a:rPr>
              <a:t>c:Cidade</a:t>
            </a:r>
            <a:r>
              <a:rPr lang="pt-BR" sz="3200" spc="-1" dirty="0">
                <a:solidFill>
                  <a:schemeClr val="dk1"/>
                </a:solidFill>
              </a:rPr>
              <a:t>{id:10, </a:t>
            </a:r>
            <a:r>
              <a:rPr lang="pt-BR" sz="3200" spc="-1" dirty="0" err="1">
                <a:solidFill>
                  <a:schemeClr val="dk1"/>
                </a:solidFill>
              </a:rPr>
              <a:t>nome:'Porto</a:t>
            </a:r>
            <a:r>
              <a:rPr lang="pt-BR" sz="3200" spc="-1" dirty="0">
                <a:solidFill>
                  <a:schemeClr val="dk1"/>
                </a:solidFill>
              </a:rPr>
              <a:t> Alegre', </a:t>
            </a:r>
            <a:r>
              <a:rPr lang="pt-BR" sz="3200" spc="-1" dirty="0" err="1">
                <a:solidFill>
                  <a:schemeClr val="dk1"/>
                </a:solidFill>
              </a:rPr>
              <a:t>uf:'SC</a:t>
            </a:r>
            <a:r>
              <a:rPr lang="pt-BR" sz="3200" spc="-1" dirty="0">
                <a:solidFill>
                  <a:schemeClr val="dk1"/>
                </a:solidFill>
              </a:rPr>
              <a:t>'});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3200" spc="-1" dirty="0" err="1">
                <a:solidFill>
                  <a:schemeClr val="dk1"/>
                </a:solidFill>
              </a:rPr>
              <a:t>create</a:t>
            </a:r>
            <a:r>
              <a:rPr lang="pt-BR" sz="3200" spc="-1" dirty="0">
                <a:solidFill>
                  <a:schemeClr val="dk1"/>
                </a:solidFill>
              </a:rPr>
              <a:t> (</a:t>
            </a:r>
            <a:r>
              <a:rPr lang="pt-BR" sz="3200" spc="-1" dirty="0" err="1">
                <a:solidFill>
                  <a:schemeClr val="dk1"/>
                </a:solidFill>
              </a:rPr>
              <a:t>c:Cidade</a:t>
            </a:r>
            <a:r>
              <a:rPr lang="pt-BR" sz="3200" spc="-1" dirty="0">
                <a:solidFill>
                  <a:schemeClr val="dk1"/>
                </a:solidFill>
              </a:rPr>
              <a:t>{id:11, </a:t>
            </a:r>
            <a:r>
              <a:rPr lang="pt-BR" sz="3200" spc="-1" dirty="0" err="1">
                <a:solidFill>
                  <a:schemeClr val="dk1"/>
                </a:solidFill>
              </a:rPr>
              <a:t>nome:'Erechim</a:t>
            </a:r>
            <a:r>
              <a:rPr lang="pt-BR" sz="3200" spc="-1" dirty="0">
                <a:solidFill>
                  <a:schemeClr val="dk1"/>
                </a:solidFill>
              </a:rPr>
              <a:t>', </a:t>
            </a:r>
            <a:r>
              <a:rPr lang="pt-BR" sz="3200" spc="-1" dirty="0" err="1">
                <a:solidFill>
                  <a:schemeClr val="dk1"/>
                </a:solidFill>
              </a:rPr>
              <a:t>uf:'RS</a:t>
            </a:r>
            <a:r>
              <a:rPr lang="pt-BR" sz="3200" spc="-1" dirty="0">
                <a:solidFill>
                  <a:schemeClr val="dk1"/>
                </a:solidFill>
              </a:rPr>
              <a:t>'});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3200" spc="-1" dirty="0" err="1">
                <a:solidFill>
                  <a:schemeClr val="dk1"/>
                </a:solidFill>
              </a:rPr>
              <a:t>create</a:t>
            </a:r>
            <a:r>
              <a:rPr lang="pt-BR" sz="3200" spc="-1" dirty="0">
                <a:solidFill>
                  <a:schemeClr val="dk1"/>
                </a:solidFill>
              </a:rPr>
              <a:t> (</a:t>
            </a:r>
            <a:r>
              <a:rPr lang="pt-BR" sz="3200" spc="-1" dirty="0" err="1">
                <a:solidFill>
                  <a:schemeClr val="dk1"/>
                </a:solidFill>
              </a:rPr>
              <a:t>c:Cidade</a:t>
            </a:r>
            <a:r>
              <a:rPr lang="pt-BR" sz="3200" spc="-1" dirty="0">
                <a:solidFill>
                  <a:schemeClr val="dk1"/>
                </a:solidFill>
              </a:rPr>
              <a:t>{id:12, </a:t>
            </a:r>
            <a:r>
              <a:rPr lang="pt-BR" sz="3200" spc="-1" dirty="0" err="1">
                <a:solidFill>
                  <a:schemeClr val="dk1"/>
                </a:solidFill>
              </a:rPr>
              <a:t>nome:'Chapeco</a:t>
            </a:r>
            <a:r>
              <a:rPr lang="pt-BR" sz="3200" spc="-1" dirty="0">
                <a:solidFill>
                  <a:schemeClr val="dk1"/>
                </a:solidFill>
              </a:rPr>
              <a:t>', </a:t>
            </a:r>
            <a:r>
              <a:rPr lang="pt-BR" sz="3200" spc="-1" dirty="0" err="1">
                <a:solidFill>
                  <a:schemeClr val="dk1"/>
                </a:solidFill>
              </a:rPr>
              <a:t>uf:'SC</a:t>
            </a:r>
            <a:r>
              <a:rPr lang="pt-BR" sz="3200" spc="-1" dirty="0">
                <a:solidFill>
                  <a:schemeClr val="dk1"/>
                </a:solidFill>
              </a:rPr>
              <a:t>'});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3200" spc="-1" dirty="0" err="1">
                <a:solidFill>
                  <a:schemeClr val="dk1"/>
                </a:solidFill>
              </a:rPr>
              <a:t>create</a:t>
            </a:r>
            <a:r>
              <a:rPr lang="pt-BR" sz="3200" spc="-1" dirty="0">
                <a:solidFill>
                  <a:schemeClr val="dk1"/>
                </a:solidFill>
              </a:rPr>
              <a:t> (</a:t>
            </a:r>
            <a:r>
              <a:rPr lang="pt-BR" sz="3200" spc="-1" dirty="0" err="1">
                <a:solidFill>
                  <a:schemeClr val="dk1"/>
                </a:solidFill>
              </a:rPr>
              <a:t>c:Cidade</a:t>
            </a:r>
            <a:r>
              <a:rPr lang="pt-BR" sz="3200" spc="-1" dirty="0">
                <a:solidFill>
                  <a:schemeClr val="dk1"/>
                </a:solidFill>
              </a:rPr>
              <a:t>{id:13, nome:'</a:t>
            </a:r>
            <a:r>
              <a:rPr lang="pt-BR" sz="3200" spc="-1" dirty="0" err="1">
                <a:solidFill>
                  <a:schemeClr val="dk1"/>
                </a:solidFill>
              </a:rPr>
              <a:t>Nonoai</a:t>
            </a:r>
            <a:r>
              <a:rPr lang="pt-BR" sz="3200" spc="-1" dirty="0">
                <a:solidFill>
                  <a:schemeClr val="dk1"/>
                </a:solidFill>
              </a:rPr>
              <a:t>', </a:t>
            </a:r>
            <a:r>
              <a:rPr lang="pt-BR" sz="3200" spc="-1" dirty="0" err="1">
                <a:solidFill>
                  <a:schemeClr val="dk1"/>
                </a:solidFill>
              </a:rPr>
              <a:t>uf:'RS</a:t>
            </a:r>
            <a:r>
              <a:rPr lang="pt-BR" sz="3200" spc="-1" dirty="0">
                <a:solidFill>
                  <a:schemeClr val="dk1"/>
                </a:solidFill>
              </a:rPr>
              <a:t>'});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DEF48EA-A2CB-F704-50BF-CCE26467535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19C0E02-A6CC-4EB2-9873-4B9E512C8E3B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097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51D2-FE07-E269-143B-C6FFEE1E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>
            <a:extLst>
              <a:ext uri="{FF2B5EF4-FFF2-40B4-BE49-F238E27FC236}">
                <a16:creationId xmlns:a16="http://schemas.microsoft.com/office/drawing/2014/main" id="{7D88A37B-D243-85E5-D5F3-5AAB694E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1955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sz="4400" dirty="0"/>
            </a:b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Criando relacionamentos: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>
            <a:extLst>
              <a:ext uri="{FF2B5EF4-FFF2-40B4-BE49-F238E27FC236}">
                <a16:creationId xmlns:a16="http://schemas.microsoft.com/office/drawing/2014/main" id="{04FCA6D5-7CAE-72F5-CBD1-D60A9B446B2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4256" y="1560576"/>
            <a:ext cx="11472672" cy="395582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2000" spc="-1" dirty="0">
                <a:solidFill>
                  <a:schemeClr val="dk1"/>
                </a:solidFill>
              </a:rPr>
              <a:t>MATCH (c1:Cidade), (c2:Cidade) </a:t>
            </a:r>
            <a:r>
              <a:rPr lang="pt-BR" sz="2000" spc="-1" dirty="0" err="1">
                <a:solidFill>
                  <a:schemeClr val="dk1"/>
                </a:solidFill>
              </a:rPr>
              <a:t>where</a:t>
            </a:r>
            <a:r>
              <a:rPr lang="pt-BR" sz="2000" spc="-1" dirty="0">
                <a:solidFill>
                  <a:schemeClr val="dk1"/>
                </a:solidFill>
              </a:rPr>
              <a:t> c1.id = 12 </a:t>
            </a:r>
            <a:r>
              <a:rPr lang="pt-BR" sz="2000" spc="-1" dirty="0" err="1">
                <a:solidFill>
                  <a:schemeClr val="dk1"/>
                </a:solidFill>
              </a:rPr>
              <a:t>and</a:t>
            </a:r>
            <a:r>
              <a:rPr lang="pt-BR" sz="2000" spc="-1" dirty="0">
                <a:solidFill>
                  <a:schemeClr val="dk1"/>
                </a:solidFill>
              </a:rPr>
              <a:t> c2.id = 11 </a:t>
            </a:r>
            <a:r>
              <a:rPr lang="pt-BR" sz="2000" spc="-1" dirty="0" err="1">
                <a:solidFill>
                  <a:schemeClr val="dk1"/>
                </a:solidFill>
              </a:rPr>
              <a:t>create</a:t>
            </a:r>
            <a:r>
              <a:rPr lang="pt-BR" sz="2000" spc="-1" dirty="0">
                <a:solidFill>
                  <a:schemeClr val="dk1"/>
                </a:solidFill>
              </a:rPr>
              <a:t> (c1)-[</a:t>
            </a:r>
            <a:r>
              <a:rPr lang="pt-BR" sz="2000" spc="-1" dirty="0" err="1">
                <a:solidFill>
                  <a:schemeClr val="dk1"/>
                </a:solidFill>
              </a:rPr>
              <a:t>r:rota</a:t>
            </a:r>
            <a:r>
              <a:rPr lang="pt-BR" sz="2000" spc="-1" dirty="0">
                <a:solidFill>
                  <a:schemeClr val="dk1"/>
                </a:solidFill>
              </a:rPr>
              <a:t>]-&gt;(c2) SET </a:t>
            </a:r>
            <a:r>
              <a:rPr lang="pt-BR" sz="2000" spc="-1" dirty="0" err="1">
                <a:solidFill>
                  <a:schemeClr val="dk1"/>
                </a:solidFill>
              </a:rPr>
              <a:t>r.distancia</a:t>
            </a:r>
            <a:r>
              <a:rPr lang="pt-BR" sz="2000" spc="-1" dirty="0">
                <a:solidFill>
                  <a:schemeClr val="dk1"/>
                </a:solidFill>
              </a:rPr>
              <a:t> = 136;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2000" spc="-1" dirty="0">
                <a:solidFill>
                  <a:schemeClr val="dk1"/>
                </a:solidFill>
              </a:rPr>
              <a:t>MATCH (c1:Cidade), (c2:Cidade) </a:t>
            </a:r>
            <a:r>
              <a:rPr lang="pt-BR" sz="2000" spc="-1" dirty="0" err="1">
                <a:solidFill>
                  <a:schemeClr val="dk1"/>
                </a:solidFill>
              </a:rPr>
              <a:t>where</a:t>
            </a:r>
            <a:r>
              <a:rPr lang="pt-BR" sz="2000" spc="-1" dirty="0">
                <a:solidFill>
                  <a:schemeClr val="dk1"/>
                </a:solidFill>
              </a:rPr>
              <a:t> c1.id = 11 </a:t>
            </a:r>
            <a:r>
              <a:rPr lang="pt-BR" sz="2000" spc="-1" dirty="0" err="1">
                <a:solidFill>
                  <a:schemeClr val="dk1"/>
                </a:solidFill>
              </a:rPr>
              <a:t>and</a:t>
            </a:r>
            <a:r>
              <a:rPr lang="pt-BR" sz="2000" spc="-1" dirty="0">
                <a:solidFill>
                  <a:schemeClr val="dk1"/>
                </a:solidFill>
              </a:rPr>
              <a:t> c2.id = 10 </a:t>
            </a:r>
            <a:r>
              <a:rPr lang="pt-BR" sz="2000" spc="-1" dirty="0" err="1">
                <a:solidFill>
                  <a:schemeClr val="dk1"/>
                </a:solidFill>
              </a:rPr>
              <a:t>create</a:t>
            </a:r>
            <a:r>
              <a:rPr lang="pt-BR" sz="2000" spc="-1" dirty="0">
                <a:solidFill>
                  <a:schemeClr val="dk1"/>
                </a:solidFill>
              </a:rPr>
              <a:t> (c1)-[</a:t>
            </a:r>
            <a:r>
              <a:rPr lang="pt-BR" sz="2000" spc="-1" dirty="0" err="1">
                <a:solidFill>
                  <a:schemeClr val="dk1"/>
                </a:solidFill>
              </a:rPr>
              <a:t>r:rota</a:t>
            </a:r>
            <a:r>
              <a:rPr lang="pt-BR" sz="2000" spc="-1" dirty="0">
                <a:solidFill>
                  <a:schemeClr val="dk1"/>
                </a:solidFill>
              </a:rPr>
              <a:t>]-&gt;(c2) SET </a:t>
            </a:r>
            <a:r>
              <a:rPr lang="pt-BR" sz="2000" spc="-1" dirty="0" err="1">
                <a:solidFill>
                  <a:schemeClr val="dk1"/>
                </a:solidFill>
              </a:rPr>
              <a:t>r.distancia</a:t>
            </a:r>
            <a:r>
              <a:rPr lang="pt-BR" sz="2000" spc="-1" dirty="0">
                <a:solidFill>
                  <a:schemeClr val="dk1"/>
                </a:solidFill>
              </a:rPr>
              <a:t> = 370;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2000" spc="-1" dirty="0">
                <a:solidFill>
                  <a:schemeClr val="dk1"/>
                </a:solidFill>
              </a:rPr>
              <a:t>MATCH (c1:Cidade), (c2:Cidade) </a:t>
            </a:r>
            <a:r>
              <a:rPr lang="pt-BR" sz="2000" spc="-1" dirty="0" err="1">
                <a:solidFill>
                  <a:schemeClr val="dk1"/>
                </a:solidFill>
              </a:rPr>
              <a:t>where</a:t>
            </a:r>
            <a:r>
              <a:rPr lang="pt-BR" sz="2000" spc="-1" dirty="0">
                <a:solidFill>
                  <a:schemeClr val="dk1"/>
                </a:solidFill>
              </a:rPr>
              <a:t> c1.id = 12 </a:t>
            </a:r>
            <a:r>
              <a:rPr lang="pt-BR" sz="2000" spc="-1" dirty="0" err="1">
                <a:solidFill>
                  <a:schemeClr val="dk1"/>
                </a:solidFill>
              </a:rPr>
              <a:t>and</a:t>
            </a:r>
            <a:r>
              <a:rPr lang="pt-BR" sz="2000" spc="-1" dirty="0">
                <a:solidFill>
                  <a:schemeClr val="dk1"/>
                </a:solidFill>
              </a:rPr>
              <a:t> c2.id = 13 </a:t>
            </a:r>
            <a:r>
              <a:rPr lang="pt-BR" sz="2000" spc="-1" dirty="0" err="1">
                <a:solidFill>
                  <a:schemeClr val="dk1"/>
                </a:solidFill>
              </a:rPr>
              <a:t>create</a:t>
            </a:r>
            <a:r>
              <a:rPr lang="pt-BR" sz="2000" spc="-1" dirty="0">
                <a:solidFill>
                  <a:schemeClr val="dk1"/>
                </a:solidFill>
              </a:rPr>
              <a:t> (c1)-[</a:t>
            </a:r>
            <a:r>
              <a:rPr lang="pt-BR" sz="2000" spc="-1" dirty="0" err="1">
                <a:solidFill>
                  <a:schemeClr val="dk1"/>
                </a:solidFill>
              </a:rPr>
              <a:t>r:rota</a:t>
            </a:r>
            <a:r>
              <a:rPr lang="pt-BR" sz="2000" spc="-1" dirty="0">
                <a:solidFill>
                  <a:schemeClr val="dk1"/>
                </a:solidFill>
              </a:rPr>
              <a:t>]-&gt;(c2) SET </a:t>
            </a:r>
            <a:r>
              <a:rPr lang="pt-BR" sz="2000" spc="-1" dirty="0" err="1">
                <a:solidFill>
                  <a:schemeClr val="dk1"/>
                </a:solidFill>
              </a:rPr>
              <a:t>r.distancia</a:t>
            </a:r>
            <a:r>
              <a:rPr lang="pt-BR" sz="2000" spc="-1" dirty="0">
                <a:solidFill>
                  <a:schemeClr val="dk1"/>
                </a:solidFill>
              </a:rPr>
              <a:t> = 44;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pt-BR" sz="2000" spc="-1" dirty="0">
                <a:solidFill>
                  <a:schemeClr val="dk1"/>
                </a:solidFill>
              </a:rPr>
              <a:t>MATCH (c1:Cidade), (c2:Cidade) </a:t>
            </a:r>
            <a:r>
              <a:rPr lang="pt-BR" sz="2000" spc="-1" dirty="0" err="1">
                <a:solidFill>
                  <a:schemeClr val="dk1"/>
                </a:solidFill>
              </a:rPr>
              <a:t>where</a:t>
            </a:r>
            <a:r>
              <a:rPr lang="pt-BR" sz="2000" spc="-1" dirty="0">
                <a:solidFill>
                  <a:schemeClr val="dk1"/>
                </a:solidFill>
              </a:rPr>
              <a:t> c1.id = 13 </a:t>
            </a:r>
            <a:r>
              <a:rPr lang="pt-BR" sz="2000" spc="-1" dirty="0" err="1">
                <a:solidFill>
                  <a:schemeClr val="dk1"/>
                </a:solidFill>
              </a:rPr>
              <a:t>and</a:t>
            </a:r>
            <a:r>
              <a:rPr lang="pt-BR" sz="2000" spc="-1" dirty="0">
                <a:solidFill>
                  <a:schemeClr val="dk1"/>
                </a:solidFill>
              </a:rPr>
              <a:t> c2.id = 10 </a:t>
            </a:r>
            <a:r>
              <a:rPr lang="pt-BR" sz="2000" spc="-1" dirty="0" err="1">
                <a:solidFill>
                  <a:schemeClr val="dk1"/>
                </a:solidFill>
              </a:rPr>
              <a:t>create</a:t>
            </a:r>
            <a:r>
              <a:rPr lang="pt-BR" sz="2000" spc="-1" dirty="0">
                <a:solidFill>
                  <a:schemeClr val="dk1"/>
                </a:solidFill>
              </a:rPr>
              <a:t> (c1)-[</a:t>
            </a:r>
            <a:r>
              <a:rPr lang="pt-BR" sz="2000" spc="-1" dirty="0" err="1">
                <a:solidFill>
                  <a:schemeClr val="dk1"/>
                </a:solidFill>
              </a:rPr>
              <a:t>r:rota</a:t>
            </a:r>
            <a:r>
              <a:rPr lang="pt-BR" sz="2000" spc="-1" dirty="0">
                <a:solidFill>
                  <a:schemeClr val="dk1"/>
                </a:solidFill>
              </a:rPr>
              <a:t>]-&gt;(c2) SET </a:t>
            </a:r>
            <a:r>
              <a:rPr lang="pt-BR" sz="2000" spc="-1" dirty="0" err="1">
                <a:solidFill>
                  <a:schemeClr val="dk1"/>
                </a:solidFill>
              </a:rPr>
              <a:t>r.distancia</a:t>
            </a:r>
            <a:r>
              <a:rPr lang="pt-BR" sz="2000" spc="-1" dirty="0">
                <a:solidFill>
                  <a:schemeClr val="dk1"/>
                </a:solidFill>
              </a:rPr>
              <a:t> = 410;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4BEAD96-3790-C08D-7C1F-5AD47B309DF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19C0E02-A6CC-4EB2-9873-4B9E512C8E3B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8484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2800" b="0" strike="noStrike" spc="-1">
                <a:solidFill>
                  <a:schemeClr val="dk1"/>
                </a:solidFill>
                <a:latin typeface="Cavolini"/>
              </a:rPr>
              <a:t>Alterando relacionamentos: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691160" y="1836720"/>
            <a:ext cx="71380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833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(c1:Cidade{nome: 'Chapecó' })-[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r:rota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]-(c2:Cidade{nome: 'Erechim'})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SET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r.distancia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= 120 RETURN c1;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(c1:Cidade{nome: 'Erechim' })-[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r:rota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]-(c2:Cidade{nome: 'Porto Alegre'}) SET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r.distancia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= 480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RETURN c1;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MATCH (c1:Cidade{nome: '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Nonoai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' })-[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r:rota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]-(c2:Cidade{nome: 'Porto Alegre'}) SET </a:t>
            </a:r>
            <a:r>
              <a:rPr lang="pt-BR" sz="2800" b="0" strike="noStrike" spc="-1" dirty="0" err="1">
                <a:solidFill>
                  <a:schemeClr val="dk1"/>
                </a:solidFill>
                <a:latin typeface="Cavolini"/>
              </a:rPr>
              <a:t>r.distancia</a:t>
            </a:r>
            <a:r>
              <a:rPr lang="pt-BR" sz="2800" b="0" strike="noStrike" spc="-1" dirty="0">
                <a:solidFill>
                  <a:schemeClr val="dk1"/>
                </a:solidFill>
                <a:latin typeface="Cavolini"/>
              </a:rPr>
              <a:t> = 520 RETURN c1;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Imagem 3"/>
          <p:cNvPicPr/>
          <p:nvPr/>
        </p:nvPicPr>
        <p:blipFill>
          <a:blip r:embed="rId2"/>
          <a:stretch/>
        </p:blipFill>
        <p:spPr>
          <a:xfrm>
            <a:off x="723960" y="1836720"/>
            <a:ext cx="3874680" cy="2991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B8F0B44-B9EA-42E2-B900-62BDA85064BD}" type="slidenum">
              <a:rPr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6666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38080" y="1836720"/>
            <a:ext cx="109908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8611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4000" b="0" strike="noStrike" spc="-1" dirty="0">
                <a:solidFill>
                  <a:schemeClr val="dk1"/>
                </a:solidFill>
                <a:latin typeface="Cavolini"/>
              </a:rPr>
              <a:t>Obtendo a distância entre os nodos Cidade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strike="noStrike" spc="-1" dirty="0">
                <a:solidFill>
                  <a:schemeClr val="dk1"/>
                </a:solidFill>
                <a:latin typeface="Cavolini"/>
              </a:rPr>
              <a:t>MATCH (</a:t>
            </a:r>
            <a:r>
              <a:rPr lang="pt-BR" sz="2400" b="0" strike="noStrike" spc="-1" dirty="0" err="1">
                <a:solidFill>
                  <a:schemeClr val="dk1"/>
                </a:solidFill>
                <a:latin typeface="Cavolini"/>
              </a:rPr>
              <a:t>c:Cidade</a:t>
            </a:r>
            <a:r>
              <a:rPr lang="pt-BR" sz="2400" b="0" strike="noStrike" spc="-1" dirty="0">
                <a:solidFill>
                  <a:schemeClr val="dk1"/>
                </a:solidFill>
                <a:latin typeface="Cavolini"/>
              </a:rPr>
              <a:t>)-[</a:t>
            </a:r>
            <a:r>
              <a:rPr lang="pt-BR" sz="2400" b="0" strike="noStrike" spc="-1" dirty="0" err="1">
                <a:solidFill>
                  <a:schemeClr val="dk1"/>
                </a:solidFill>
                <a:latin typeface="Cavolini"/>
              </a:rPr>
              <a:t>r:rota</a:t>
            </a:r>
            <a:r>
              <a:rPr lang="pt-BR" sz="2400" b="0" strike="noStrike" spc="-1" dirty="0">
                <a:solidFill>
                  <a:schemeClr val="dk1"/>
                </a:solidFill>
                <a:latin typeface="Cavolini"/>
              </a:rPr>
              <a:t>]-&gt;(d) RETURN </a:t>
            </a:r>
            <a:r>
              <a:rPr lang="pt-BR" sz="2400" b="0" strike="noStrike" spc="-1" dirty="0" err="1">
                <a:solidFill>
                  <a:schemeClr val="dk1"/>
                </a:solidFill>
                <a:latin typeface="Cavolini"/>
              </a:rPr>
              <a:t>c.nome</a:t>
            </a:r>
            <a:r>
              <a:rPr lang="pt-BR" sz="2400" b="0" strike="noStrike" spc="-1" dirty="0">
                <a:solidFill>
                  <a:schemeClr val="dk1"/>
                </a:solidFill>
                <a:latin typeface="Cavolini"/>
              </a:rPr>
              <a:t>, </a:t>
            </a:r>
            <a:r>
              <a:rPr lang="pt-BR" sz="2400" b="0" strike="noStrike" spc="-1" dirty="0" err="1">
                <a:solidFill>
                  <a:schemeClr val="dk1"/>
                </a:solidFill>
                <a:latin typeface="Cavolini"/>
              </a:rPr>
              <a:t>r.distancia</a:t>
            </a:r>
            <a:r>
              <a:rPr lang="pt-BR" sz="2400" b="0" strike="noStrike" spc="-1" dirty="0">
                <a:solidFill>
                  <a:schemeClr val="dk1"/>
                </a:solidFill>
                <a:latin typeface="Cavolini"/>
              </a:rPr>
              <a:t>, </a:t>
            </a:r>
            <a:r>
              <a:rPr lang="pt-BR" sz="2400" b="0" strike="noStrike" spc="-1" dirty="0" err="1">
                <a:solidFill>
                  <a:schemeClr val="dk1"/>
                </a:solidFill>
                <a:latin typeface="Cavolini"/>
              </a:rPr>
              <a:t>d.nome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4000" b="0" strike="noStrike" spc="-1" dirty="0">
                <a:solidFill>
                  <a:schemeClr val="dk1"/>
                </a:solidFill>
                <a:latin typeface="Cavolini"/>
              </a:rPr>
              <a:t>Obtendo o menor caminho entre as cidades de Xanxerê e Porto Alegre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BR" sz="2700" dirty="0"/>
              <a:t>MATCH (c1:Cidade {nome: "Xanxerê"}), (c2:Cidade {nome: "Porto Alegre"}), p = </a:t>
            </a:r>
            <a:r>
              <a:rPr lang="pt-BR" sz="2700" dirty="0" err="1"/>
              <a:t>shortestPath</a:t>
            </a:r>
            <a:r>
              <a:rPr lang="pt-BR" sz="2700" dirty="0"/>
              <a:t>((c1)-[*..2]-(c2)) RETURN p;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5802327-4ADA-469A-BCA2-FB593FF167DA}" type="slidenum">
              <a:rPr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6692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>
                <a:solidFill>
                  <a:schemeClr val="dk1"/>
                </a:solidFill>
                <a:latin typeface="Cavolini"/>
              </a:rPr>
              <a:t>Graph Database – Neo4j</a:t>
            </a:r>
            <a:br>
              <a:rPr sz="4400"/>
            </a:br>
            <a:r>
              <a:rPr lang="pt-BR" sz="3100" b="0" strike="noStrike" spc="-1">
                <a:solidFill>
                  <a:schemeClr val="dk1"/>
                </a:solidFill>
                <a:latin typeface="Cavolini"/>
              </a:rPr>
              <a:t>Obtendo a menor distância entre os nodos Cidade</a:t>
            </a:r>
            <a:endParaRPr lang="pt-BR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940680" y="2416680"/>
            <a:ext cx="10990800" cy="285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MATCH p=(c1:Cidade)-[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volini"/>
              </a:rPr>
              <a:t>rels:rota</a:t>
            </a: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*]-&gt;(c2:Cidade)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WITH p, REDUCE(s = 0, x IN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volini"/>
              </a:rPr>
              <a:t>rels</a:t>
            </a: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 | s +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volini"/>
              </a:rPr>
              <a:t>x.distancia</a:t>
            </a: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) AS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volini"/>
              </a:rPr>
              <a:t>dist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WITH p, MIN(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volini"/>
              </a:rPr>
              <a:t>dist</a:t>
            </a: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) AS d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ORDER BY d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LIMIT 1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volini"/>
              </a:rPr>
              <a:t>RETURN RELATIONSHIPS(p), d;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Imagem 2"/>
          <p:cNvPicPr/>
          <p:nvPr/>
        </p:nvPicPr>
        <p:blipFill>
          <a:blip r:embed="rId2"/>
          <a:stretch/>
        </p:blipFill>
        <p:spPr>
          <a:xfrm>
            <a:off x="7001640" y="3429000"/>
            <a:ext cx="3789720" cy="29232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C59AE96-899D-4D21-9F0F-DA8CE7F436F7}" type="slidenum">
              <a:rPr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Graph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</a:t>
            </a:r>
            <a:r>
              <a:rPr lang="pt-BR" sz="4400" b="0" strike="noStrike" spc="-1" dirty="0" err="1">
                <a:solidFill>
                  <a:schemeClr val="dk1"/>
                </a:solidFill>
                <a:latin typeface="Cavolini"/>
              </a:rPr>
              <a:t>Database</a:t>
            </a:r>
            <a:r>
              <a:rPr lang="pt-BR" sz="4400" b="0" strike="noStrike" spc="-1" dirty="0">
                <a:solidFill>
                  <a:schemeClr val="dk1"/>
                </a:solidFill>
                <a:latin typeface="Cavolini"/>
              </a:rPr>
              <a:t> – Neo4j</a:t>
            </a:r>
            <a:br>
              <a:rPr lang="pt-BR" sz="4400" b="0" strike="noStrike" spc="-1" dirty="0">
                <a:solidFill>
                  <a:schemeClr val="dk1"/>
                </a:solidFill>
                <a:latin typeface="Cavolini"/>
              </a:rPr>
            </a:br>
            <a:r>
              <a:rPr lang="pt-BR" sz="2700" b="0" strike="noStrike" spc="-1" dirty="0">
                <a:solidFill>
                  <a:schemeClr val="dk1"/>
                </a:solidFill>
                <a:latin typeface="Cavolini"/>
              </a:rPr>
              <a:t>Conectando o Neo4j ao Python</a:t>
            </a:r>
            <a:br>
              <a:rPr sz="4400" dirty="0"/>
            </a:b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BBC6A34-E4E8-431D-8ABD-8CD348E9E633}" type="slidenum">
              <a:rPr/>
              <a:t>28</a:t>
            </a:fld>
            <a:endParaRPr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7D757E-87A5-59C3-A7FA-300BB5ADFC9A}"/>
              </a:ext>
            </a:extLst>
          </p:cNvPr>
          <p:cNvSpPr txBox="1"/>
          <p:nvPr/>
        </p:nvSpPr>
        <p:spPr>
          <a:xfrm>
            <a:off x="1032979" y="1703014"/>
            <a:ext cx="895148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from neo4j </a:t>
            </a: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GraphDatabase</a:t>
            </a:r>
            <a:endParaRPr lang="pt-BR" dirty="0"/>
          </a:p>
          <a:p>
            <a:r>
              <a:rPr lang="pt-BR" dirty="0"/>
              <a:t>driver = </a:t>
            </a:r>
            <a:r>
              <a:rPr lang="pt-BR" dirty="0" err="1"/>
              <a:t>GraphDatabase.driver</a:t>
            </a:r>
            <a:r>
              <a:rPr lang="pt-BR" dirty="0"/>
              <a:t>("</a:t>
            </a:r>
            <a:r>
              <a:rPr lang="pt-BR" dirty="0" err="1"/>
              <a:t>bolt</a:t>
            </a:r>
            <a:r>
              <a:rPr lang="pt-BR" dirty="0"/>
              <a:t>://localhost:7687", </a:t>
            </a:r>
          </a:p>
          <a:p>
            <a:r>
              <a:rPr lang="pt-BR" dirty="0"/>
              <a:t>  </a:t>
            </a:r>
            <a:r>
              <a:rPr lang="pt-BR" dirty="0" err="1"/>
              <a:t>auth</a:t>
            </a:r>
            <a:r>
              <a:rPr lang="pt-BR" dirty="0"/>
              <a:t>=("neo4j", “</a:t>
            </a:r>
            <a:r>
              <a:rPr lang="pt-BR" dirty="0" err="1"/>
              <a:t>unochapeco</a:t>
            </a:r>
            <a:r>
              <a:rPr lang="pt-BR" dirty="0"/>
              <a:t>"))</a:t>
            </a:r>
          </a:p>
          <a:p>
            <a:endParaRPr lang="pt-BR" dirty="0"/>
          </a:p>
          <a:p>
            <a:r>
              <a:rPr lang="pt-BR" dirty="0"/>
              <a:t># Verifica conectividade</a:t>
            </a:r>
          </a:p>
          <a:p>
            <a:r>
              <a:rPr lang="pt-BR" dirty="0" err="1"/>
              <a:t>driver.verify_connectivity</a:t>
            </a:r>
            <a:r>
              <a:rPr lang="pt-BR" dirty="0"/>
              <a:t>()</a:t>
            </a:r>
          </a:p>
          <a:p>
            <a:br>
              <a:rPr lang="pt-BR" dirty="0"/>
            </a:br>
            <a:r>
              <a:rPr lang="pt-BR" dirty="0"/>
              <a:t># Abre sessão e executa query</a:t>
            </a:r>
          </a:p>
          <a:p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driver.session</a:t>
            </a:r>
            <a:r>
              <a:rPr lang="pt-BR" dirty="0"/>
              <a:t>(</a:t>
            </a:r>
            <a:r>
              <a:rPr lang="pt-BR" dirty="0" err="1"/>
              <a:t>database</a:t>
            </a:r>
            <a:r>
              <a:rPr lang="pt-BR" dirty="0"/>
              <a:t>="neo4j") as </a:t>
            </a:r>
            <a:r>
              <a:rPr lang="pt-BR" dirty="0" err="1"/>
              <a:t>session</a:t>
            </a:r>
            <a:r>
              <a:rPr lang="pt-BR" dirty="0"/>
              <a:t>:</a:t>
            </a:r>
          </a:p>
          <a:p>
            <a:r>
              <a:rPr lang="pt-BR" dirty="0"/>
              <a:t>    </a:t>
            </a:r>
            <a:r>
              <a:rPr lang="pt-BR" dirty="0" err="1"/>
              <a:t>result</a:t>
            </a:r>
            <a:r>
              <a:rPr lang="pt-BR" dirty="0"/>
              <a:t> = </a:t>
            </a:r>
            <a:r>
              <a:rPr lang="pt-BR" dirty="0" err="1"/>
              <a:t>session.run</a:t>
            </a:r>
            <a:r>
              <a:rPr lang="pt-BR" dirty="0"/>
              <a:t>("MATCH (</a:t>
            </a:r>
            <a:r>
              <a:rPr lang="pt-BR" dirty="0" err="1"/>
              <a:t>p:Pessoa</a:t>
            </a:r>
            <a:r>
              <a:rPr lang="pt-BR" dirty="0"/>
              <a:t>) RETURN </a:t>
            </a:r>
            <a:r>
              <a:rPr lang="pt-BR" dirty="0" err="1"/>
              <a:t>p.nome</a:t>
            </a:r>
            <a:r>
              <a:rPr lang="pt-BR" dirty="0"/>
              <a:t> AS nome")</a:t>
            </a:r>
          </a:p>
          <a:p>
            <a:r>
              <a:rPr lang="pt-BR" dirty="0"/>
              <a:t>    for </a:t>
            </a:r>
            <a:r>
              <a:rPr lang="pt-BR" dirty="0" err="1"/>
              <a:t>record</a:t>
            </a:r>
            <a:r>
              <a:rPr lang="pt-BR" dirty="0"/>
              <a:t> in </a:t>
            </a:r>
            <a:r>
              <a:rPr lang="pt-BR" dirty="0" err="1"/>
              <a:t>result</a:t>
            </a:r>
            <a:r>
              <a:rPr lang="pt-BR" dirty="0"/>
              <a:t>:</a:t>
            </a:r>
          </a:p>
          <a:p>
            <a:r>
              <a:rPr lang="pt-BR" dirty="0"/>
              <a:t>        print(</a:t>
            </a:r>
            <a:r>
              <a:rPr lang="pt-BR" dirty="0" err="1"/>
              <a:t>record</a:t>
            </a:r>
            <a:r>
              <a:rPr lang="pt-BR" dirty="0"/>
              <a:t>["nome"])</a:t>
            </a:r>
          </a:p>
          <a:p>
            <a:br>
              <a:rPr lang="pt-BR" dirty="0"/>
            </a:br>
            <a:r>
              <a:rPr lang="pt-BR" dirty="0"/>
              <a:t># Fecha conexão</a:t>
            </a:r>
          </a:p>
          <a:p>
            <a:r>
              <a:rPr lang="pt-BR" dirty="0" err="1"/>
              <a:t>driver.close</a:t>
            </a:r>
            <a:r>
              <a:rPr lang="pt-BR" dirty="0"/>
              <a:t>()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e_Monica">
      <a:majorFont>
        <a:latin typeface="Cavolini"/>
        <a:ea typeface=""/>
        <a:cs typeface=""/>
      </a:majorFont>
      <a:minorFont>
        <a:latin typeface="Cavolin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3205</TotalTime>
  <Words>2092</Words>
  <Application>Microsoft Office PowerPoint</Application>
  <PresentationFormat>Widescreen</PresentationFormat>
  <Paragraphs>190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28</vt:i4>
      </vt:variant>
    </vt:vector>
  </HeadingPairs>
  <TitlesOfParts>
    <vt:vector size="40" baseType="lpstr">
      <vt:lpstr>Arial</vt:lpstr>
      <vt:lpstr>Cavolini</vt:lpstr>
      <vt:lpstr>Symbol</vt:lpstr>
      <vt:lpstr>Times New Roman</vt:lpstr>
      <vt:lpstr>Wingdings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Bancos de Dados orientados a Grafos</vt:lpstr>
      <vt:lpstr>Grafos</vt:lpstr>
      <vt:lpstr>Grafos</vt:lpstr>
      <vt:lpstr>Grafos não orientados</vt:lpstr>
      <vt:lpstr>Grafos orientados ou dígrafos</vt:lpstr>
      <vt:lpstr>Grafos ponderados</vt:lpstr>
      <vt:lpstr>Graph Database – Neo4j</vt:lpstr>
      <vt:lpstr>Graph Database – Neo4j</vt:lpstr>
      <vt:lpstr>Graph Database – Neo4j</vt:lpstr>
      <vt:lpstr>Graph Database – Neo4j</vt:lpstr>
      <vt:lpstr>Graph Database – Neo4j Adicionando nodos:</vt:lpstr>
      <vt:lpstr>Graph Database – Neo4j Adicionando mais nodos:</vt:lpstr>
      <vt:lpstr>Graph Database – Neo4j Consultando</vt:lpstr>
      <vt:lpstr>Graph Database – Neo4j Consultando:</vt:lpstr>
      <vt:lpstr>Graph Database – Neo4j Alterando nodos:</vt:lpstr>
      <vt:lpstr>Graph Database – Neo4j Criando relacionamentos:</vt:lpstr>
      <vt:lpstr>Graph Database – Neo4j Criando relacionamentos:</vt:lpstr>
      <vt:lpstr>Graph Database – Neo4j Consultando relacionamentos:</vt:lpstr>
      <vt:lpstr>Graph Database – Neo4j Funções de agregação:</vt:lpstr>
      <vt:lpstr>Graph Database – Neo4j Operadores</vt:lpstr>
      <vt:lpstr>Graph Database – Neo4j Excluindo nodos</vt:lpstr>
      <vt:lpstr>Graph Database – Neo4j Excluindo relacionamentos:</vt:lpstr>
      <vt:lpstr>Graph Database – Neo4j Mais nodos:</vt:lpstr>
      <vt:lpstr>Graph Database – Neo4j Criando relacionamentos:</vt:lpstr>
      <vt:lpstr>Graph Database – Neo4j Alterando relacionamentos:</vt:lpstr>
      <vt:lpstr>Graph Database – Neo4j </vt:lpstr>
      <vt:lpstr>Graph Database – Neo4j Obtendo a menor distância entre os nodos Cidade</vt:lpstr>
      <vt:lpstr>Graph Database – Neo4j Conectando o Neo4j ao Python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Bancos de Dados orientados a Grafos</dc:title>
  <dc:subject/>
  <dc:creator>Monica Pereira</dc:creator>
  <dc:description/>
  <cp:lastModifiedBy>Monica Pereira</cp:lastModifiedBy>
  <cp:revision>107</cp:revision>
  <dcterms:created xsi:type="dcterms:W3CDTF">2019-08-02T19:59:08Z</dcterms:created>
  <dcterms:modified xsi:type="dcterms:W3CDTF">2025-11-04T17:24:59Z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35</vt:i4>
  </property>
</Properties>
</file>